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8" r:id="rId8"/>
    <p:sldId id="261" r:id="rId15"/>
    <p:sldId id="268" r:id="rId22"/>
    <p:sldId id="269" r:id="rId23"/>
    <p:sldId id="262" r:id="rId16"/>
    <p:sldId id="263" r:id="rId17"/>
    <p:sldId id="264" r:id="rId18"/>
    <p:sldId id="257" r:id="rId7"/>
    <p:sldId id="267" r:id="rId21"/>
    <p:sldId id="260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?>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5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4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  <Relationship Id="rId15" Type="http://schemas.openxmlformats.org/officeDocument/2006/relationships/slide" Target="slides/slide6.xml"/>
  <Relationship Id="rId16" Type="http://schemas.openxmlformats.org/officeDocument/2006/relationships/slide" Target="slides/slide7.xml"/>
  <Relationship Id="rId17" Type="http://schemas.openxmlformats.org/officeDocument/2006/relationships/slide" Target="slides/slide8.xml"/>
  <Relationship Id="rId18" Type="http://schemas.openxmlformats.org/officeDocument/2006/relationships/slide" Target="slides/slide9.xml"/>
  
  
  <Relationship Id="rId21" Type="http://schemas.openxmlformats.org/officeDocument/2006/relationships/slide" Target="slides/slide12.xml"/>
  <Relationship Id="rId22" Type="http://schemas.openxmlformats.org/officeDocument/2006/relationships/slide" Target="slides/slide13.xml"/>
  <Relationship Id="rId23" Type="http://schemas.openxmlformats.org/officeDocument/2006/relationships/slide" Target="slides/slide14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ddefa9d4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ddefa9d4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2ddefa9d463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2ddefa9d46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2ddefa9d46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2ddefa9d46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Bg1" Type="http://schemas.openxmlformats.org/officeDocument/2006/relationships/image" Target="../media/wood_bg_a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Bg1" Type="http://schemas.openxmlformats.org/officeDocument/2006/relationships/image" Target="../media/wood_bg_e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Bg1" Type="http://schemas.openxmlformats.org/officeDocument/2006/relationships/image" Target="../media/wood_bg_b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Bg1" Type="http://schemas.openxmlformats.org/officeDocument/2006/relationships/image" Target="../media/wood_bg_d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Bg1" Type="http://schemas.openxmlformats.org/officeDocument/2006/relationships/image" Target="../media/wood_bg_d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Bg1" Type="http://schemas.openxmlformats.org/officeDocument/2006/relationships/image" Target="../media/wood_bg_c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Bg1" Type="http://schemas.openxmlformats.org/officeDocument/2006/relationships/image" Target="../media/wood_bg_b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Bg1" Type="http://schemas.openxmlformats.org/officeDocument/2006/relationships/image" Target="../media/wood_bg_c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3" Type="http://schemas.openxmlformats.org/officeDocument/2006/relationships/image" Target="../media/image3.jpg"/><Relationship Id="rIdBg1" Type="http://schemas.openxmlformats.org/officeDocument/2006/relationships/image" Target="../media/wood_bg_e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Img1" Type="http://schemas.openxmlformats.org/officeDocument/2006/relationships/image" Target="../media/interactive_1.png"/><Relationship Id="rIdImg2" Type="http://schemas.openxmlformats.org/officeDocument/2006/relationships/image" Target="../media/interactive_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Img3" Type="http://schemas.openxmlformats.org/officeDocument/2006/relationships/image" Target="../media/interactive_3.png"/><Relationship Id="rIdImg4" Type="http://schemas.openxmlformats.org/officeDocument/2006/relationships/image" Target="../media/interactive_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BigBuild: Light Frame Wood Shear Walls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explainable shear-wall design tool for the NCSEA Big Build Hackathon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</a:t>
            </a:r>
            <a:endParaRPr/>
          </a:p>
        </p:txBody>
      </p:sp>
      <p:grpSp>
        <p:nvGrpSpPr>
          <p:cNvPr id="61" name="Google Shape;61;p14"/>
          <p:cNvGrpSpPr/>
          <p:nvPr/>
        </p:nvGrpSpPr>
        <p:grpSpPr>
          <a:xfrm>
            <a:off x="311700" y="1017725"/>
            <a:ext cx="3798600" cy="1071900"/>
            <a:chOff x="311700" y="1017725"/>
            <a:chExt cx="3798600" cy="1071900"/>
          </a:xfrm>
        </p:grpSpPr>
        <p:pic>
          <p:nvPicPr>
            <p:cNvPr id="62" name="Google Shape;62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1383600" y="1300000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Scott Breneman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64" name="Google Shape;64;p14"/>
            <p:cNvSpPr txBox="1"/>
            <p:nvPr/>
          </p:nvSpPr>
          <p:spPr>
            <a:xfrm>
              <a:off x="1383600" y="1552900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Project owner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4572000" y="1017725"/>
            <a:ext cx="3798600" cy="1071900"/>
            <a:chOff x="311700" y="1017725"/>
            <a:chExt cx="3798600" cy="1071900"/>
          </a:xfrm>
        </p:grpSpPr>
        <p:pic>
          <p:nvPicPr>
            <p:cNvPr id="77" name="Google Shape;7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8" name="Google Shape;78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Dago DeLaRosa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311700" y="2387800"/>
            <a:ext cx="3798600" cy="1071900"/>
            <a:chOff x="311700" y="1017725"/>
            <a:chExt cx="3798600" cy="1071900"/>
          </a:xfrm>
        </p:grpSpPr>
        <p:pic>
          <p:nvPicPr>
            <p:cNvPr id="67" name="Google Shape;6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8" name="Google Shape;68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Samantha Joyce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4572000" y="2387800"/>
            <a:ext cx="3798600" cy="1071900"/>
            <a:chOff x="311700" y="1017725"/>
            <a:chExt cx="3798600" cy="1071900"/>
          </a:xfrm>
        </p:grpSpPr>
        <p:pic>
          <p:nvPicPr>
            <p:cNvPr id="82" name="Google Shape;82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83" name="Google Shape;83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Alex Bonnar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1" name="Google Shape;71;p14"/>
          <p:cNvGrpSpPr/>
          <p:nvPr/>
        </p:nvGrpSpPr>
        <p:grpSpPr>
          <a:xfrm>
            <a:off x="311700" y="3757875"/>
            <a:ext cx="3798600" cy="1071900"/>
            <a:chOff x="311700" y="1017725"/>
            <a:chExt cx="3798600" cy="1071900"/>
          </a:xfrm>
        </p:grpSpPr>
        <p:pic>
          <p:nvPicPr>
            <p:cNvPr id="72" name="Google Shape;72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3" name="Google Shape;73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Vince LaCoste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4572000" y="3757875"/>
            <a:ext cx="3798600" cy="1071900"/>
            <a:chOff x="311700" y="1017725"/>
            <a:chExt cx="3798600" cy="1071900"/>
          </a:xfrm>
        </p:grpSpPr>
        <p:pic>
          <p:nvPicPr>
            <p:cNvPr id="87" name="Google Shape;8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88" name="Google Shape;88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Sam Martin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project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Engineers designing multi-story multifamily buildings often work through shear-wall stacks with hand calculations and spreadsheets.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We want to explore a Python app that makes those calculations visible, checks individual components, and shows how design assumptions affect the results.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900"/>
              </a:spcAft>
              <a:buNone/>
            </a:pPr>
            <a:r>
              <a:rPr lang="en"/>
              <a:t>Prototype only: results need validation against selected references and engineering review before project use.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Links</a:t>
            </a:r>
            <a:endParaRPr/>
          </a:p>
        </p:txBody>
      </p:sp>
      <p:grpSp>
        <p:nvGrpSpPr>
          <p:cNvPr id="108" name="Google Shape;108;p17"/>
          <p:cNvGrpSpPr/>
          <p:nvPr/>
        </p:nvGrpSpPr>
        <p:grpSpPr>
          <a:xfrm>
            <a:off x="311711" y="1499723"/>
            <a:ext cx="4260130" cy="1202136"/>
            <a:chOff x="311711" y="1499723"/>
            <a:chExt cx="4260130" cy="1202136"/>
          </a:xfrm>
        </p:grpSpPr>
        <p:pic>
          <p:nvPicPr>
            <p:cNvPr id="109" name="Google Shape;109;p17"/>
            <p:cNvPicPr preferRelativeResize="0"/>
            <p:nvPr/>
          </p:nvPicPr>
          <p:blipFill rotWithShape="1">
            <a:blip r:embed="rId3">
              <a:alphaModFix/>
            </a:blip>
            <a:srcRect b="10065" l="11556" r="11556" t="13048"/>
            <a:stretch/>
          </p:blipFill>
          <p:spPr>
            <a:xfrm>
              <a:off x="311711" y="1499723"/>
              <a:ext cx="1202136" cy="1202136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110" name="Google Shape;110;p17"/>
            <p:cNvSpPr txBox="1"/>
            <p:nvPr/>
          </p:nvSpPr>
          <p:spPr>
            <a:xfrm>
              <a:off x="1513847" y="1499723"/>
              <a:ext cx="3057994" cy="283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BigBuild-LFW-Shearwalls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1" name="Google Shape;111;p17"/>
            <p:cNvSpPr txBox="1"/>
            <p:nvPr/>
          </p:nvSpPr>
          <p:spPr>
            <a:xfrm>
              <a:off x="1513847" y="1783351"/>
              <a:ext cx="3057994" cy="2836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GitHub repository</a:t>
              </a:r>
              <a:endPara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2" name="Google Shape;112;p17"/>
            <p:cNvSpPr txBox="1"/>
            <p:nvPr/>
          </p:nvSpPr>
          <p:spPr>
            <a:xfrm>
              <a:off x="1513847" y="2064325"/>
              <a:ext cx="7000000" cy="4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github.com/scottbreneman/BigBuild-LFW-Shearwalls</a:t>
              </a:r>
              <a:endParaRPr i="1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Hackathon goal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A Python prototype for one five-story stack of vertically aligned, solid wood structural panel (WSP) shear walls without openings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Start from applied seismic story loads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Show component-by-component checks and calculated story drift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Make every result traceable: inputs, units, assumptions, intermediate results, and reference citations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Components: </a:t>
            </a:r>
            <a:r>
              <a:rPr lang="en"/>
              <a:t>sheathing, boundary studs/posts in compression and tension, hold-downs or continuous tie-downs, and stack connections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Engineering basis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Standards: </a:t>
            </a:r>
            <a:r>
              <a:rPr lang="en"/>
              <a:t>IBC 2024, SDPWS 2021, NDS 2024, ASCE 7-22; CBC is out of scope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Edition differences between a worked example and this basis are recorded, never silently treated as equivalent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OpenSeesPy is an installed candidate engine; it does not supply wood design provisions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Decided at the event: </a:t>
            </a:r>
            <a:r>
              <a:rPr lang="en"/>
              <a:t>wall idealization, load conventions, boundary conditions, drift treatment, component checks, and acceptance tolerances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 examples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WoodWorks five-story light-frame wood structure over podium (2nd ed., Nov 2025): </a:t>
            </a:r>
            <a:r>
              <a:rPr lang="en"/>
              <a:t>§3.3 shear wall design and §3.4 drift are the candidate benchmark starting point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WoodWorks cantilever wood diaphragm (updated May 2026): </a:t>
            </a:r>
            <a:r>
              <a:rPr lang="en"/>
              <a:t>wall stiffness, rigid diaphragm force distribution, and drift context; not a five-story benchmark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Both PDFs are in the repo with the owner's confirmation of distribution permission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Licensed standards stay outside the repository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repository is organized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src/analysis/ </a:t>
            </a:r>
            <a:r>
              <a:rPr lang="en"/>
              <a:t>structural model and response calculations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src/design/ </a:t>
            </a:r>
            <a:r>
              <a:rPr lang="en"/>
              <a:t>component checks and reported calculation steps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src/ui/ </a:t>
            </a:r>
            <a:r>
              <a:rPr lang="en"/>
              <a:t>user interface; Streamlit is available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tests/ </a:t>
            </a:r>
            <a:r>
              <a:rPr lang="en"/>
              <a:t>engineering benchmarks and regression tests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references/public/ </a:t>
            </a:r>
            <a:r>
              <a:rPr lang="en"/>
              <a:t>documents with confirmed redistribution permission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 b="1"/>
              <a:t xml:space="preserve">tools/ </a:t>
            </a:r>
            <a:r>
              <a:rPr lang="en"/>
              <a:t>generic environment verification</a:t>
            </a:r>
            <a:endParaRPr/>
          </a:p>
          <a:p>
            <a:pPr indent="-285750" lvl="0" marL="285750" rtl="0" algn="l">
              <a:spcBef>
                <a:spcPts val="0"/>
              </a:spcBef>
              <a:spcAft>
                <a:spcPts val="900"/>
              </a:spcAft>
              <a:buChar char="•"/>
            </a:pPr>
            <a:r>
              <a:rPr lang="en"/>
              <a:t>No application code or engineering benchmark exists yet; it is built at the event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dpi="0" rotWithShape="1">
          <a:blip r:embed="rIdBg1"/>
          <a:srcRect/>
          <a:stretch>
            <a:fillRect/>
          </a:stretch>
        </a:blipFill>
        <a:effectLst/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Team, continued</a:t>
            </a:r>
            <a:endParaRPr/>
          </a:p>
        </p:txBody>
      </p:sp>
      <p:grpSp>
        <p:nvGrpSpPr>
          <p:cNvPr id="61" name="Google Shape;61;p14"/>
          <p:cNvGrpSpPr/>
          <p:nvPr/>
        </p:nvGrpSpPr>
        <p:grpSpPr>
          <a:xfrm>
            <a:off x="311700" y="1017725"/>
            <a:ext cx="3798600" cy="1071900"/>
            <a:chOff x="311700" y="1017725"/>
            <a:chExt cx="3798600" cy="1071900"/>
          </a:xfrm>
        </p:grpSpPr>
        <p:pic>
          <p:nvPicPr>
            <p:cNvPr id="62" name="Google Shape;62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3" name="Google Shape;63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Aidan Anderson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4572000" y="1017725"/>
            <a:ext cx="3798600" cy="1071900"/>
            <a:chOff x="311700" y="1017725"/>
            <a:chExt cx="3798600" cy="1071900"/>
          </a:xfrm>
        </p:grpSpPr>
        <p:pic>
          <p:nvPicPr>
            <p:cNvPr id="77" name="Google Shape;7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78" name="Google Shape;78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Hamid Khodadadi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66" name="Google Shape;66;p14"/>
          <p:cNvGrpSpPr/>
          <p:nvPr/>
        </p:nvGrpSpPr>
        <p:grpSpPr>
          <a:xfrm>
            <a:off x="311700" y="2387800"/>
            <a:ext cx="3798600" cy="1071900"/>
            <a:chOff x="311700" y="1017725"/>
            <a:chExt cx="3798600" cy="1071900"/>
          </a:xfrm>
        </p:grpSpPr>
        <p:pic>
          <p:nvPicPr>
            <p:cNvPr id="67" name="Google Shape;67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68" name="Google Shape;68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Garret Mills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81" name="Google Shape;81;p14"/>
          <p:cNvGrpSpPr/>
          <p:nvPr/>
        </p:nvGrpSpPr>
        <p:grpSpPr>
          <a:xfrm>
            <a:off x="4572000" y="2387800"/>
            <a:ext cx="3798600" cy="1071900"/>
            <a:chOff x="311700" y="1017725"/>
            <a:chExt cx="3798600" cy="1071900"/>
          </a:xfrm>
        </p:grpSpPr>
        <p:pic>
          <p:nvPicPr>
            <p:cNvPr id="82" name="Google Shape;82;p1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11700" y="1017725"/>
              <a:ext cx="1071900" cy="1071900"/>
            </a:xfrm>
            <a:prstGeom prst="ellipse">
              <a:avLst/>
            </a:prstGeom>
            <a:noFill/>
            <a:ln>
              <a:noFill/>
            </a:ln>
          </p:spPr>
        </p:pic>
        <p:sp>
          <p:nvSpPr>
            <p:cNvPr id="83" name="Google Shape;83;p14"/>
            <p:cNvSpPr txBox="1"/>
            <p:nvPr/>
          </p:nvSpPr>
          <p:spPr>
            <a:xfrm>
              <a:off x="1383600" y="1427225"/>
              <a:ext cx="2726700" cy="2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2"/>
                  </a:solidFill>
                  <a:latin typeface="Roboto"/>
                  <a:ea typeface="Roboto"/>
                  <a:cs typeface="Roboto"/>
                  <a:sym typeface="Roboto"/>
                </a:rPr>
                <a:t>Miles Bennet</a:t>
              </a:r>
              <a:endParaRPr b="1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Shear Wall Design</a:t>
            </a:r>
            <a:endParaRPr/>
          </a:p>
        </p:txBody>
      </p:sp>
      <p:pic>
        <p:nvPicPr>
          <p:cNvPr id="200" name="Screenshot 1" descr="Plan view with tributary zones, wall demands and holdowns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311700" y="1250000"/>
            <a:ext cx="4185300" cy="231204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201" name="Caption 1"/>
          <p:cNvSpPr txBox="1"/>
          <p:nvPr/>
        </p:nvSpPr>
        <p:spPr>
          <a:xfrm>
            <a:off x="311700" y="3602040"/>
            <a:ext cx="4185300" cy="260000"/>
          </a:xfrm>
          <a:prstGeom prst="rect">
            <a:avLst/>
          </a:prstGeom>
          <a:noFill/>
        </p:spPr>
        <p:txBody>
          <a:bodyPr anchor="ctr" lIns="0" rIns="0" tIns="45720" bIns="0" wrap="square">
            <a:noAutofit/>
          </a:bodyPr>
          <a:lstStyle/>
          <a:p>
            <a:pPr algn="ctr"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Plan view with tributary zones and holdowns</a:t>
            </a:r>
          </a:p>
        </p:txBody>
      </p:sp>
      <p:pic>
        <p:nvPicPr>
          <p:cNvPr id="202" name="Screenshot 2" descr="Free-body diagram with story inputs and results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4647000" y="1250000"/>
            <a:ext cx="4185300" cy="1931676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203" name="Caption 2"/>
          <p:cNvSpPr txBox="1"/>
          <p:nvPr/>
        </p:nvSpPr>
        <p:spPr>
          <a:xfrm>
            <a:off x="4647000" y="3221676"/>
            <a:ext cx="4185300" cy="260000"/>
          </a:xfrm>
          <a:prstGeom prst="rect">
            <a:avLst/>
          </a:prstGeom>
          <a:noFill/>
        </p:spPr>
        <p:txBody>
          <a:bodyPr anchor="ctr" lIns="0" rIns="0" tIns="45720" bIns="0" wrap="square">
            <a:noAutofit/>
          </a:bodyPr>
          <a:lstStyle/>
          <a:p>
            <a:pPr algn="ctr"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Free-body diagram with story inputs and results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Shear Wall Design, continued</a:t>
            </a:r>
            <a:endParaRPr/>
          </a:p>
        </p:txBody>
      </p:sp>
      <p:pic>
        <p:nvPicPr>
          <p:cNvPr id="200" name="Screenshot 3" descr="Wall schedule, holdown table and assembly catalog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311700" y="1250000"/>
            <a:ext cx="4185300" cy="2328794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201" name="Caption 3"/>
          <p:cNvSpPr txBox="1"/>
          <p:nvPr/>
        </p:nvSpPr>
        <p:spPr>
          <a:xfrm>
            <a:off x="311700" y="3618794"/>
            <a:ext cx="4185300" cy="260000"/>
          </a:xfrm>
          <a:prstGeom prst="rect">
            <a:avLst/>
          </a:prstGeom>
          <a:noFill/>
        </p:spPr>
        <p:txBody>
          <a:bodyPr anchor="ctr" lIns="0" rIns="0" tIns="45720" bIns="0" wrap="square">
            <a:noAutofit/>
          </a:bodyPr>
          <a:lstStyle/>
          <a:p>
            <a:pPr algn="ctr"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Wall schedule, holdown table and assembly catalog</a:t>
            </a:r>
          </a:p>
        </p:txBody>
      </p:sp>
      <p:pic>
        <p:nvPicPr>
          <p:cNvPr id="202" name="Screenshot 4" descr="Aligned two-story stack with accumulated overturning"/>
          <p:cNvPicPr>
            <a:picLocks noChangeAspect="1"/>
          </p:cNvPicPr>
          <p:nvPr/>
        </p:nvPicPr>
        <p:blipFill>
          <a:blip r:embed="rIdImg4"/>
          <a:stretch>
            <a:fillRect/>
          </a:stretch>
        </p:blipFill>
        <p:spPr>
          <a:xfrm>
            <a:off x="4788670" y="1250000"/>
            <a:ext cx="3901960" cy="2500000"/>
          </a:xfrm>
          <a:prstGeom prst="rect">
            <a:avLst/>
          </a:prstGeom>
          <a:ln w="9525">
            <a:solidFill>
              <a:srgbClr val="D0D5DD"/>
            </a:solidFill>
          </a:ln>
        </p:spPr>
      </p:pic>
      <p:sp>
        <p:nvSpPr>
          <p:cNvPr id="203" name="Caption 4"/>
          <p:cNvSpPr txBox="1"/>
          <p:nvPr/>
        </p:nvSpPr>
        <p:spPr>
          <a:xfrm>
            <a:off x="4647000" y="3790000"/>
            <a:ext cx="4185300" cy="260000"/>
          </a:xfrm>
          <a:prstGeom prst="rect">
            <a:avLst/>
          </a:prstGeom>
          <a:noFill/>
        </p:spPr>
        <p:txBody>
          <a:bodyPr anchor="ctr" lIns="0" rIns="0" tIns="45720" bIns="0" wrap="square">
            <a:noAutofit/>
          </a:bodyPr>
          <a:lstStyle/>
          <a:p>
            <a:pPr algn="ctr">
              <a:buNone/>
            </a:pPr>
            <a:r>
              <a:rPr lang="en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Aligned two-story stack with accumulated overturning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